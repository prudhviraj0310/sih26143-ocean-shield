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00000" y="520000"/>
            <a:ext cx="6500000" cy="1400000"/>
          </a:xfrm>
        </p:spPr>
        <p:txBody>
          <a:bodyPr/>
          <a:lstStyle/>
          <a:p>
            <a:pPr algn="l"/>
            <a:r>
              <a:rPr sz="3400" b="1">
                <a:solidFill>
                  <a:srgbClr val="1B365D"/>
                </a:solidFill>
                <a:latin typeface="Arial"/>
              </a:rPr>
              <a:t>OCEAN-SHIELD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007A99"/>
                </a:solidFill>
                <a:latin typeface="Arial"/>
              </a:rPr>
              <a:t>Evidence-Aware Satellite Remote Sensing &amp;
AIS Maritime Spill Forensic Attribution System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0000" y="2050000"/>
            <a:ext cx="6200000" cy="4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1B365D"/>
                </a:solidFill>
                <a:latin typeface="Arial"/>
              </a:rPr>
              <a:t>Problem Statement ID: </a:t>
            </a:r>
            <a:r>
              <a:rPr sz="1100" b="1">
                <a:solidFill>
                  <a:srgbClr val="007A99"/>
                </a:solidFill>
                <a:latin typeface="Arial"/>
              </a:rPr>
              <a:t>SIH26143</a:t>
            </a:r>
            <a:endParaRPr lang="en-US" dirty="0"/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1B365D"/>
                </a:solidFill>
                <a:latin typeface="Arial"/>
              </a:rPr>
              <a:t>Problem Statement Title: </a:t>
            </a:r>
            <a:r>
              <a:rPr sz="1100" b="0">
                <a:solidFill>
                  <a:srgbClr val="222E3A"/>
                </a:solidFill>
                <a:latin typeface="Arial"/>
              </a:rPr>
              <a:t>Automated Oil Spill Detection, Hindcasting &amp; Vessel Attribution from Satellite Imagery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1B365D"/>
                </a:solidFill>
                <a:latin typeface="Arial"/>
              </a:rPr>
              <a:t>Theme: </a:t>
            </a:r>
            <a:r>
              <a:rPr sz="1100" b="0">
                <a:solidFill>
                  <a:srgbClr val="222E3A"/>
                </a:solidFill>
                <a:latin typeface="Arial"/>
              </a:rPr>
              <a:t>Disaster Management &amp; Maritime Environmental Security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1B365D"/>
                </a:solidFill>
                <a:latin typeface="Arial"/>
              </a:rPr>
              <a:t>PS Category: </a:t>
            </a:r>
            <a:r>
              <a:rPr sz="1100" b="0">
                <a:solidFill>
                  <a:srgbClr val="222E3A"/>
                </a:solidFill>
                <a:latin typeface="Arial"/>
              </a:rPr>
              <a:t>Software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1B365D"/>
                </a:solidFill>
                <a:latin typeface="Arial"/>
              </a:rPr>
              <a:t>Organization: </a:t>
            </a:r>
            <a:r>
              <a:rPr sz="1100" b="1">
                <a:solidFill>
                  <a:srgbClr val="007A99"/>
                </a:solidFill>
                <a:latin typeface="Arial"/>
              </a:rPr>
              <a:t>National Technical Research Organisation (NTRO)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1B365D"/>
                </a:solidFill>
                <a:latin typeface="Arial"/>
              </a:rPr>
              <a:t>Team Name: </a:t>
            </a:r>
            <a:r>
              <a:rPr sz="1100" b="1">
                <a:solidFill>
                  <a:srgbClr val="007A99"/>
                </a:solidFill>
                <a:latin typeface="Arial"/>
              </a:rPr>
              <a:t>OCEAN SHIELD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1B365D"/>
                </a:solidFill>
                <a:latin typeface="Arial"/>
              </a:rPr>
              <a:t>Expected Solution: </a:t>
            </a:r>
            <a:r>
              <a:rPr sz="1100" b="0">
                <a:solidFill>
                  <a:srgbClr val="222E3A"/>
                </a:solidFill>
                <a:latin typeface="Arial"/>
              </a:rPr>
              <a:t>Automated detection &amp; hindcasting ML model identifying oil slicks from satellite imagery, mapping drift paths backward &amp; forward, ranking culprit vessels via spatio-temporal AIS correlation, with visual tactical C2 cockpit.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00000" y="180000"/>
            <a:ext cx="7800000" cy="850000"/>
          </a:xfrm>
        </p:spPr>
        <p:txBody>
          <a:bodyPr anchor="ctr"/>
          <a:lstStyle/>
          <a:p>
            <a:pPr eaLnBrk="1" hangingPunct="1" algn="l"/>
            <a:r>
              <a:rPr sz="2600" b="1">
                <a:solidFill>
                  <a:srgbClr val="1B365D"/>
                </a:solidFill>
                <a:latin typeface="Arial"/>
              </a:rPr>
              <a:t>PROPOSED SOLUTION: OCEAN-SHIELD PIPELINE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OCEAN
SHIELD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550000" y="1250000"/>
            <a:ext cx="3600000" cy="4950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Rounded Rectangle 15362"/>
          <p:cNvSpPr/>
          <p:nvPr/>
        </p:nvSpPr>
        <p:spPr>
          <a:xfrm>
            <a:off x="550000" y="1250000"/>
            <a:ext cx="3600000" cy="520000"/>
          </a:xfrm>
          <a:prstGeom prst="roundRect">
            <a:avLst/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🛰️ Multi-Modal Satellite Detection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610000" y="1810000"/>
            <a:ext cx="3480000" cy="4370000"/>
          </a:xfrm>
          <a:prstGeom prst="rect">
            <a:avLst/>
          </a:prstGeom>
          <a:noFill/>
        </p:spPr>
        <p:txBody>
          <a:bodyPr wrap="square" lIns="80000" rIns="80000" tIns="60000" bIns="40000">
            <a:sp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SAR Segmentation: </a:t>
            </a:r>
            <a:r>
              <a:rPr sz="900" b="0">
                <a:solidFill>
                  <a:srgbClr val="222E3A"/>
                </a:solidFill>
                <a:latin typeface="Arial"/>
              </a:rPr>
              <a:t>PyTorch U-Net deep learning on Sentinel-1 C-band SAR images for pixel-accurate oil slick boundary extraction.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AI Super-Resolution: </a:t>
            </a:r>
            <a:r>
              <a:rPr sz="900" b="0">
                <a:solidFill>
                  <a:srgbClr val="222E3A"/>
                </a:solidFill>
                <a:latin typeface="Arial"/>
              </a:rPr>
              <a:t>ESPCN 2× sub-pixel CNN enhances thin sheen edges beyond native 10m spatial resolution.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Optical Verification: </a:t>
            </a:r>
            <a:r>
              <a:rPr sz="900" b="0">
                <a:solidFill>
                  <a:srgbClr val="222E3A"/>
                </a:solidFill>
                <a:latin typeface="Arial"/>
              </a:rPr>
              <a:t>Sentinel-2 MSI cross-validation using NDOI (Oil Index) + FAI (Floating Algae Index) eliminates false alarms.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Speckle Filtering: </a:t>
            </a:r>
            <a:r>
              <a:rPr sz="900" b="0">
                <a:solidFill>
                  <a:srgbClr val="222E3A"/>
                </a:solidFill>
                <a:latin typeface="Arial"/>
              </a:rPr>
              <a:t>Advanced adaptive Lee filter attenuates coherent radar noise while preserving sharp slick margins.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Ship Extraction: </a:t>
            </a:r>
            <a:r>
              <a:rPr sz="900" b="0">
                <a:solidFill>
                  <a:srgbClr val="222E3A"/>
                </a:solidFill>
                <a:latin typeface="Arial"/>
              </a:rPr>
              <a:t>Adaptive CA-CFAR radar algorithm detects metallic hull returns for instant vessel correlation.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310000" y="1250000"/>
            <a:ext cx="3600000" cy="4950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Rounded Rectangle 15365"/>
          <p:cNvSpPr/>
          <p:nvPr/>
        </p:nvSpPr>
        <p:spPr>
          <a:xfrm>
            <a:off x="4310000" y="1250000"/>
            <a:ext cx="3600000" cy="52000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🌊 Hydrodynamic Drift &amp; Weathering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4370000" y="1810000"/>
            <a:ext cx="3480000" cy="4370000"/>
          </a:xfrm>
          <a:prstGeom prst="rect">
            <a:avLst/>
          </a:prstGeom>
          <a:noFill/>
        </p:spPr>
        <p:txBody>
          <a:bodyPr wrap="square" lIns="80000" rIns="80000" tIns="60000" bIns="40000">
            <a:sp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RK4 Lagrangian Physics: </a:t>
            </a:r>
            <a:r>
              <a:rPr sz="900" b="0">
                <a:solidFill>
                  <a:srgbClr val="222E3A"/>
                </a:solidFill>
                <a:latin typeface="Arial"/>
              </a:rPr>
              <a:t>4th-Order Runge-Kutta numerical integration (O(Δt⁴) precision) simulates 1,000-particle swarms.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Real 4D Currents: </a:t>
            </a:r>
            <a:r>
              <a:rPr sz="900" b="0">
                <a:solidFill>
                  <a:srgbClr val="222E3A"/>
                </a:solidFill>
                <a:latin typeface="Arial"/>
              </a:rPr>
              <a:t>Driven by NOAA HYCOM GOFS 3.1 NetCDF grids (0.08° resolution, 3-hourly velocity vectors).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Backward Hindcasting: </a:t>
            </a:r>
            <a:r>
              <a:rPr sz="900" b="0">
                <a:solidFill>
                  <a:srgbClr val="222E3A"/>
                </a:solidFill>
                <a:latin typeface="Arial"/>
              </a:rPr>
              <a:t>Reverses ocean current vectors to trace slick back to exact release origin (x₀, y₀, t₀).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Forward Forecasting: </a:t>
            </a:r>
            <a:r>
              <a:rPr sz="900" b="0">
                <a:solidFill>
                  <a:srgbClr val="222E3A"/>
                </a:solidFill>
                <a:latin typeface="Arial"/>
              </a:rPr>
              <a:t>Projects forward drift trajectory and alerts coastal sanctuaries &amp; beaches with precise ETB.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Mackay ADIOS Weathering: </a:t>
            </a:r>
            <a:r>
              <a:rPr sz="900" b="0">
                <a:solidFill>
                  <a:srgbClr val="222E3A"/>
                </a:solidFill>
                <a:latin typeface="Arial"/>
              </a:rPr>
              <a:t>Models volatile evaporation, emulsification mousse, viscosity rise, and volume decay.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8070000" y="1250000"/>
            <a:ext cx="3600000" cy="4950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8070000" y="1250000"/>
            <a:ext cx="3600000" cy="520000"/>
          </a:xfrm>
          <a:prstGeom prst="round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🚢 AIS Attribution &amp; Dark Vessels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8130000" y="1810000"/>
            <a:ext cx="3480000" cy="4370000"/>
          </a:xfrm>
          <a:prstGeom prst="rect">
            <a:avLst/>
          </a:prstGeom>
          <a:noFill/>
        </p:spPr>
        <p:txBody>
          <a:bodyPr wrap="square" lIns="80000" rIns="80000" tIns="60000" bIns="40000">
            <a:sp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AIS Stream Ingestion: </a:t>
            </a:r>
            <a:r>
              <a:rPr sz="900" b="0">
                <a:solidFill>
                  <a:srgbClr val="222E3A"/>
                </a:solidFill>
                <a:latin typeface="Arial"/>
              </a:rPr>
              <a:t>Integrates NOAA MarineCadastre historical datasets and live real-time AISStream feeds.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Forensic Ranking Engine: </a:t>
            </a:r>
            <a:r>
              <a:rPr sz="900" b="0">
                <a:solidFill>
                  <a:srgbClr val="222E3A"/>
                </a:solidFill>
                <a:latin typeface="Arial"/>
              </a:rPr>
              <a:t>Scores candidate ships via CPA spatial proximity, temporal coincidence, speed anomalies, and vessel priors.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Dark Vessel Detection: </a:t>
            </a:r>
            <a:r>
              <a:rPr sz="900" b="0">
                <a:solidFill>
                  <a:srgbClr val="222E3A"/>
                </a:solidFill>
                <a:latin typeface="Arial"/>
              </a:rPr>
              <a:t>Cross-references radar CFAR ship detections against AIS transponders to expose illicit unbroadcasting ships.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Statutory PDF Dossier: </a:t>
            </a:r>
            <a:r>
              <a:rPr sz="900" b="0">
                <a:solidFill>
                  <a:srgbClr val="222E3A"/>
                </a:solidFill>
                <a:latin typeface="Arial"/>
              </a:rPr>
              <a:t>Generates court-admissible MARPOL 73/78 Annex I inspection dossiers with SHA-256 evidence hashing.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Tactical Web Cockpit: </a:t>
            </a:r>
            <a:r>
              <a:rPr sz="900" b="0">
                <a:solidFill>
                  <a:srgbClr val="222E3A"/>
                </a:solidFill>
                <a:latin typeface="Arial"/>
              </a:rPr>
              <a:t>Interactive GIS Leaflet command dashboard for real-time naval and Coast Guard situational awareness.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00000" y="180000"/>
            <a:ext cx="7800000" cy="850000"/>
          </a:xfrm>
        </p:spPr>
        <p:txBody>
          <a:bodyPr anchor="ctr"/>
          <a:lstStyle/>
          <a:p>
            <a:pPr eaLnBrk="1" hangingPunct="1" algn="l"/>
            <a:r>
              <a:rPr sz="2600" b="1">
                <a:solidFill>
                  <a:srgbClr val="1B365D"/>
                </a:solidFill>
                <a:latin typeface="Arial"/>
              </a:rPr>
              <a:t>TECHNICAL APPROACH &amp; PIPELINE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OCEAN
SHIELD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50000" y="1250000"/>
            <a:ext cx="4500000" cy="4950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50000" y="1250000"/>
            <a:ext cx="4500000" cy="520000"/>
          </a:xfrm>
          <a:prstGeom prst="roundRect">
            <a:avLst/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🛠️ Production Technology Stack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10000" y="1810000"/>
            <a:ext cx="4380000" cy="4370000"/>
          </a:xfrm>
          <a:prstGeom prst="rect">
            <a:avLst/>
          </a:prstGeom>
          <a:noFill/>
        </p:spPr>
        <p:txBody>
          <a:bodyPr wrap="square" lIns="80000" rIns="80000" tIns="60000" bIns="40000">
            <a:sp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🧠 Deep Learning: </a:t>
            </a:r>
            <a:r>
              <a:rPr sz="900" b="0">
                <a:solidFill>
                  <a:srgbClr val="222E3A"/>
                </a:solidFill>
                <a:latin typeface="Arial"/>
              </a:rPr>
              <a:t>PyTorch 2.0+ (U-Net segmentation, DiceBCE compound loss, ESPCN sub-pixel super-resolution).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👁️ Computer Vision: </a:t>
            </a:r>
            <a:r>
              <a:rPr sz="900" b="0">
                <a:solidFill>
                  <a:srgbClr val="222E3A"/>
                </a:solidFill>
                <a:latin typeface="Arial"/>
              </a:rPr>
              <a:t>OpenCV 4.8+ (Lee speckle filter, CA-CFAR ship detection, morphology, contour geometry).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🌊 Physics Engine: </a:t>
            </a:r>
            <a:r>
              <a:rPr sz="900" b="0">
                <a:solidFill>
                  <a:srgbClr val="222E3A"/>
                </a:solidFill>
                <a:latin typeface="Arial"/>
              </a:rPr>
              <a:t>NumPy &amp; SciPy (RK4 particle advection, Fay spreading regimes, Mackay ADIOS weathering).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🗺️ Ocean Data: </a:t>
            </a:r>
            <a:r>
              <a:rPr sz="900" b="0">
                <a:solidFill>
                  <a:srgbClr val="222E3A"/>
                </a:solidFill>
                <a:latin typeface="Arial"/>
              </a:rPr>
              <a:t>NetCDF4 / Xarray (NOAA HYCOM GOFS 3.1 4D global ocean current grids, Open-Meteo wind API).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⚡ Backend Engine: </a:t>
            </a:r>
            <a:r>
              <a:rPr sz="900" b="0">
                <a:solidFill>
                  <a:srgbClr val="222E3A"/>
                </a:solidFill>
                <a:latin typeface="Arial"/>
              </a:rPr>
              <a:t>FastAPI + Uvicorn (production-grade asynchronous REST API, Pydantic schemas).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🖥️ Tactical Frontend: </a:t>
            </a:r>
            <a:r>
              <a:rPr sz="900" b="0">
                <a:solidFill>
                  <a:srgbClr val="222E3A"/>
                </a:solidFill>
                <a:latin typeface="Arial"/>
              </a:rPr>
              <a:t>HTML5 + Leaflet.js GIS + Vanilla JS + CSS3 Glassmorphism Tactical C2 Cockpit.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📑 Forensic Engine: </a:t>
            </a:r>
            <a:r>
              <a:rPr sz="900" b="0">
                <a:solidFill>
                  <a:srgbClr val="222E3A"/>
                </a:solidFill>
                <a:latin typeface="Arial"/>
              </a:rPr>
              <a:t>ReportLab (Automated statutory MARPOL 73/78 Annex I PDF dossier compilation).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300000" y="1250000"/>
            <a:ext cx="6300000" cy="4950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5300000" y="1250000"/>
            <a:ext cx="6300000" cy="52000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⚡ 7-Stage End-to-End Operational Pipeline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360000" y="1810000"/>
            <a:ext cx="6180000" cy="4370000"/>
          </a:xfrm>
          <a:prstGeom prst="rect">
            <a:avLst/>
          </a:prstGeom>
          <a:noFill/>
        </p:spPr>
        <p:txBody>
          <a:bodyPr wrap="square" lIns="80000" rIns="80000" tIns="60000" bIns="40000">
            <a:sp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Step 1 · SAR Ingestion &amp; Super-Resolution: </a:t>
            </a:r>
            <a:r>
              <a:rPr sz="900" b="0">
                <a:solidFill>
                  <a:srgbClr val="222E3A"/>
                </a:solidFill>
                <a:latin typeface="Arial"/>
              </a:rPr>
              <a:t>Sentinel-1 GRD image ingested → Lee speckle attenuation → ESPCN 2× neural super-resolution enhances fine slick boundaries.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Step 2 · U-Net Segmentation &amp; Slick Characterization: </a:t>
            </a:r>
            <a:r>
              <a:rPr sz="900" b="0">
                <a:solidFill>
                  <a:srgbClr val="222E3A"/>
                </a:solidFill>
                <a:latin typeface="Arial"/>
              </a:rPr>
              <a:t>Deep U-Net predicts binary slick mask → Computes geometric area, perimeter, elongation, mass estimate, and estimated release age.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Step 3 · RK4 Lagrangian Backward Hindcasting: </a:t>
            </a:r>
            <a:r>
              <a:rPr sz="900" b="0">
                <a:solidFill>
                  <a:srgbClr val="222E3A"/>
                </a:solidFill>
                <a:latin typeface="Arial"/>
              </a:rPr>
              <a:t>Reverses HYCOM currents to back-track slick particles to spatiotemporal origin (x₀, y₀, t₀) with 95% confidence uncertainty ellipse.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Step 4 · RK4 Forward Forecast &amp; Coastal Alerting: </a:t>
            </a:r>
            <a:r>
              <a:rPr sz="900" b="0">
                <a:solidFill>
                  <a:srgbClr val="222E3A"/>
                </a:solidFill>
                <a:latin typeface="Arial"/>
              </a:rPr>
              <a:t>Forecasts slick trajectory under wind + current advection; flags marine sanctuaries and computes estimated time of beaching (ETB).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Step 5 · AIS Spatiotemporal Corridor Filtering: </a:t>
            </a:r>
            <a:r>
              <a:rPr sz="900" b="0">
                <a:solidFill>
                  <a:srgbClr val="222E3A"/>
                </a:solidFill>
                <a:latin typeface="Arial"/>
              </a:rPr>
              <a:t>Queries AIS vessel records within hindcast corridor; calculates Closest Point of Approach (CPA) and transit timestamps.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Step 6 · Multi-Factor Forensic Attribution &amp; Dark Vessel Hunt: </a:t>
            </a:r>
            <a:r>
              <a:rPr sz="900" b="0">
                <a:solidFill>
                  <a:srgbClr val="222E3A"/>
                </a:solidFill>
                <a:latin typeface="Arial"/>
              </a:rPr>
              <a:t>Scores suspects via proximity, speed drop, vessel type; cross-references CFAR radar targets to expose non-transponding dark ships.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Step 7 · Tactical GIS Cockpit &amp; Cryptographic Dossier: </a:t>
            </a:r>
            <a:r>
              <a:rPr sz="900" b="0">
                <a:solidFill>
                  <a:srgbClr val="222E3A"/>
                </a:solidFill>
                <a:latin typeface="Arial"/>
              </a:rPr>
              <a:t>Renders interactive layers on Leaflet C2 cockpit; exports MARPOL-compliant PDF with SHA-256 evidence integrity hash.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00000" y="180000"/>
            <a:ext cx="7800000" cy="850000"/>
          </a:xfrm>
        </p:spPr>
        <p:txBody>
          <a:bodyPr anchor="ctr"/>
          <a:lstStyle/>
          <a:p>
            <a:pPr eaLnBrk="1" hangingPunct="1" algn="l"/>
            <a:r>
              <a:rPr sz="2600" b="1">
                <a:solidFill>
                  <a:srgbClr val="1B365D"/>
                </a:solidFill>
                <a:latin typeface="Arial"/>
              </a:rPr>
              <a:t>FEASIBILITY, RISKS &amp; OPERATIONAL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OCEAN
SHIELD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50000" y="1250000"/>
            <a:ext cx="3600000" cy="4950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50000" y="1250000"/>
            <a:ext cx="3600000" cy="520000"/>
          </a:xfrm>
          <a:prstGeom prst="round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✅ Proven Prototype Feasibility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10000" y="1810000"/>
            <a:ext cx="3480000" cy="4370000"/>
          </a:xfrm>
          <a:prstGeom prst="rect">
            <a:avLst/>
          </a:prstGeom>
          <a:noFill/>
        </p:spPr>
        <p:txBody>
          <a:bodyPr wrap="square" lIns="80000" rIns="80000" tIns="60000" bIns="40000">
            <a:sp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16/16 Automated Tests Pass: </a:t>
            </a:r>
            <a:r>
              <a:rPr sz="900" b="0">
                <a:solidFill>
                  <a:srgbClr val="222E3A"/>
                </a:solidFill>
                <a:latin typeface="Arial"/>
              </a:rPr>
              <a:t>Comprehensive test suite validates PyTorch models, RK4 advection, AIS scoring, and API endpoints.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Real Multi-Source Data: </a:t>
            </a:r>
            <a:r>
              <a:rPr sz="900" b="0">
                <a:solidFill>
                  <a:srgbClr val="222E3A"/>
                </a:solidFill>
                <a:latin typeface="Arial"/>
              </a:rPr>
              <a:t>Trained &amp; validated on real Sentinel-1 SAR scenes, Sentinel-2 MSI optical data, HYCOM NetCDF, and MarineCadastre AIS.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Packaged Weights: </a:t>
            </a:r>
            <a:r>
              <a:rPr sz="900" b="0">
                <a:solidFill>
                  <a:srgbClr val="222E3A"/>
                </a:solidFill>
                <a:latin typeface="Arial"/>
              </a:rPr>
              <a:t>Includes pre-trained 51.9 MB production U-Net weights + ESPCN super-resolution weights ready for deployment.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Laptop CPU Execution: </a:t>
            </a:r>
            <a:r>
              <a:rPr sz="900" b="0">
                <a:solidFill>
                  <a:srgbClr val="222E3A"/>
                </a:solidFill>
                <a:latin typeface="Arial"/>
              </a:rPr>
              <a:t>Entire pipeline runs in &lt;7.5 seconds on standard laptop CPU (sub-2 seconds on naval edge GPUs).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Air-Gapped Capable: </a:t>
            </a:r>
            <a:r>
              <a:rPr sz="900" b="0">
                <a:solidFill>
                  <a:srgbClr val="222E3A"/>
                </a:solidFill>
                <a:latin typeface="Arial"/>
              </a:rPr>
              <a:t>Zero runtime internet dependency; can run completely offline aboard Indian Coast Guard cutters.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310000" y="1250000"/>
            <a:ext cx="3600000" cy="4950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4310000" y="1250000"/>
            <a:ext cx="3600000" cy="52000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⚠️ Risk Management &amp; Mitigations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370000" y="1810000"/>
            <a:ext cx="3480000" cy="4370000"/>
          </a:xfrm>
          <a:prstGeom prst="rect">
            <a:avLst/>
          </a:prstGeom>
          <a:noFill/>
        </p:spPr>
        <p:txBody>
          <a:bodyPr wrap="square" lIns="80000" rIns="80000" tIns="60000" bIns="40000">
            <a:sp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SAR Lookalike Ambiguity: </a:t>
            </a:r>
            <a:r>
              <a:rPr sz="900" b="0">
                <a:solidFill>
                  <a:srgbClr val="222E3A"/>
                </a:solidFill>
                <a:latin typeface="Arial"/>
              </a:rPr>
              <a:t>Natural films, algae, and low-wind areas resemble slicks.
→ Mitigated by Sentinel-2 MSI (NDOI + FAI) dual-modal optical cross-validation.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AIS Transponder Disabling: </a:t>
            </a:r>
            <a:r>
              <a:rPr sz="900" b="0">
                <a:solidFill>
                  <a:srgbClr val="222E3A"/>
                </a:solidFill>
                <a:latin typeface="Arial"/>
              </a:rPr>
              <a:t>Culprit vessels switch off AIS to evade detection.
→ Mitigated by CA-CFAR radar extraction finding radar hulls without AIS correlation.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Chaotic Coastal Currents: </a:t>
            </a:r>
            <a:r>
              <a:rPr sz="900" b="0">
                <a:solidFill>
                  <a:srgbClr val="222E3A"/>
                </a:solidFill>
                <a:latin typeface="Arial"/>
              </a:rPr>
              <a:t>Non-linear nearshore hydrodynamics induce drift error.
→ Mitigated by 4th-Order Runge-Kutta (O(Δt⁴)) over crude Euler advection.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Courtroom Admissibility: </a:t>
            </a:r>
            <a:r>
              <a:rPr sz="900" b="0">
                <a:solidFill>
                  <a:srgbClr val="222E3A"/>
                </a:solidFill>
                <a:latin typeface="Arial"/>
              </a:rPr>
              <a:t>Digital evidence challenged under maritime legal scrutiny.
→ Mitigated by SHA-256 hashing conforming to Indian Evidence Act Section 65B.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070000" y="1250000"/>
            <a:ext cx="3600000" cy="4950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8070000" y="1250000"/>
            <a:ext cx="3600000" cy="520000"/>
          </a:xfrm>
          <a:prstGeom prst="round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📈 Scalability &amp; Defense Viability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130000" y="1810000"/>
            <a:ext cx="3480000" cy="4370000"/>
          </a:xfrm>
          <a:prstGeom prst="rect">
            <a:avLst/>
          </a:prstGeom>
          <a:noFill/>
        </p:spPr>
        <p:txBody>
          <a:bodyPr wrap="square" lIns="80000" rIns="80000" tIns="60000" bIns="40000">
            <a:sp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14 Indian Ocean Scenarios: </a:t>
            </a:r>
            <a:r>
              <a:rPr sz="900" b="0">
                <a:solidFill>
                  <a:srgbClr val="222E3A"/>
                </a:solidFill>
                <a:latin typeface="Arial"/>
              </a:rPr>
              <a:t>Pre-calibrated scenarios for Mumbai High, Gulf of Kachchh, Nicobar, Palk Strait, and Lakshadweep Sea.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Zero Licensing Costs: </a:t>
            </a:r>
            <a:r>
              <a:rPr sz="900" b="0">
                <a:solidFill>
                  <a:srgbClr val="222E3A"/>
                </a:solidFill>
                <a:latin typeface="Arial"/>
              </a:rPr>
              <a:t>Built entirely on open Copernicus satellite data and NOAA global models—no expensive commercial API locks.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API-First Naval Integration: </a:t>
            </a:r>
            <a:r>
              <a:rPr sz="900" b="0">
                <a:solidFill>
                  <a:srgbClr val="222E3A"/>
                </a:solidFill>
                <a:latin typeface="Arial"/>
              </a:rPr>
              <a:t>Standard REST endpoints easily ingest into Indian Navy / Coast Guard C4I surveillance grids.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Edge Compute Deployment: </a:t>
            </a:r>
            <a:r>
              <a:rPr sz="900" b="0">
                <a:solidFill>
                  <a:srgbClr val="222E3A"/>
                </a:solidFill>
                <a:latin typeface="Arial"/>
              </a:rPr>
              <a:t>Containerized Docker architecture deployable on shore command centers or shipboard edge servers.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Scalable Cloud Pipeline: </a:t>
            </a:r>
            <a:r>
              <a:rPr sz="900" b="0">
                <a:solidFill>
                  <a:srgbClr val="222E3A"/>
                </a:solidFill>
                <a:latin typeface="Arial"/>
              </a:rPr>
              <a:t>Asynchronous worker queues support nationwide coastal monitoring across all 7,517 km of coastline.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00000" y="180000"/>
            <a:ext cx="7800000" cy="850000"/>
          </a:xfrm>
        </p:spPr>
        <p:txBody>
          <a:bodyPr anchor="ctr"/>
          <a:lstStyle/>
          <a:p>
            <a:pPr eaLnBrk="1" hangingPunct="1" algn="l"/>
            <a:r>
              <a:rPr sz="2600" b="1">
                <a:solidFill>
                  <a:srgbClr val="1B365D"/>
                </a:solidFill>
                <a:latin typeface="Arial"/>
              </a:rPr>
              <a:t>IMPACT, STRATEGIC BENEFITS &amp; COMPETITIVE EDGE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OCEAN
SHIELD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00000" y="1250000"/>
            <a:ext cx="5380000" cy="2380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600000" y="1250000"/>
            <a:ext cx="5380000" cy="520000"/>
          </a:xfrm>
          <a:prstGeom prst="roundRect">
            <a:avLst/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🌊 Environmental &amp; Marine Ecology Protection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60000" y="1810000"/>
            <a:ext cx="5260000" cy="1800000"/>
          </a:xfrm>
          <a:prstGeom prst="rect">
            <a:avLst/>
          </a:prstGeom>
          <a:noFill/>
        </p:spPr>
        <p:txBody>
          <a:bodyPr wrap="square" lIns="80000" rIns="80000" tIns="60000" bIns="40000">
            <a:sp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Coastline Defense: </a:t>
            </a:r>
            <a:r>
              <a:rPr sz="900" b="0">
                <a:solidFill>
                  <a:srgbClr val="222E3A"/>
                </a:solidFill>
                <a:latin typeface="Arial"/>
              </a:rPr>
              <a:t>Protects India's 7,517 km shoreline, 12 major ports, 1,382 islands, and coastal communities.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Ecosystem Safeguard: </a:t>
            </a:r>
            <a:r>
              <a:rPr sz="900" b="0">
                <a:solidFill>
                  <a:srgbClr val="222E3A"/>
                </a:solidFill>
                <a:latin typeface="Arial"/>
              </a:rPr>
              <a:t>Shields sensitive coral reefs (Gulf of Mannar, Lakshadweep) and mangrove forests (Sundarbans).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Preemptive Containment: </a:t>
            </a:r>
            <a:r>
              <a:rPr sz="900" b="0">
                <a:solidFill>
                  <a:srgbClr val="222E3A"/>
                </a:solidFill>
                <a:latin typeface="Arial"/>
              </a:rPr>
              <a:t>Forward drift warnings alert response teams to deploy booms before slicks impact beaches.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200000" y="1250000"/>
            <a:ext cx="5380000" cy="2380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200000" y="1250000"/>
            <a:ext cx="5380000" cy="52000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⚖️ Maritime Law Enforcement &amp; Deterrence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260000" y="1810000"/>
            <a:ext cx="5260000" cy="1800000"/>
          </a:xfrm>
          <a:prstGeom prst="rect">
            <a:avLst/>
          </a:prstGeom>
          <a:noFill/>
        </p:spPr>
        <p:txBody>
          <a:bodyPr wrap="square" lIns="80000" rIns="80000" tIns="60000" bIns="40000">
            <a:sp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Bridging the Evidence Gap: </a:t>
            </a:r>
            <a:r>
              <a:rPr sz="900" b="0">
                <a:solidFill>
                  <a:srgbClr val="222E3A"/>
                </a:solidFill>
                <a:latin typeface="Arial"/>
              </a:rPr>
              <a:t>Currently over 90% of illegal high-seas bilge dumping goes undetected and unpenalized.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Targeting the True Culprit: </a:t>
            </a:r>
            <a:r>
              <a:rPr sz="900" b="0">
                <a:solidFill>
                  <a:srgbClr val="222E3A"/>
                </a:solidFill>
                <a:latin typeface="Arial"/>
              </a:rPr>
              <a:t>Hindcasting identifies the true vessel at the exact discharge epoch, exonerating bystanders.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MARPOL Compliance: </a:t>
            </a:r>
            <a:r>
              <a:rPr sz="900" b="0">
                <a:solidFill>
                  <a:srgbClr val="222E3A"/>
                </a:solidFill>
                <a:latin typeface="Arial"/>
              </a:rPr>
              <a:t>Standardized forensic dossiers ready for DG Shipping and Coast Guard legal prosecution under Indian Law.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00000" y="3790000"/>
            <a:ext cx="5380000" cy="2380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600000" y="3790000"/>
            <a:ext cx="5380000" cy="520000"/>
          </a:xfrm>
          <a:prstGeom prst="round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💰 Economic Efficiency &amp; Resource Optimization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60000" y="4350000"/>
            <a:ext cx="5260000" cy="1800000"/>
          </a:xfrm>
          <a:prstGeom prst="rect">
            <a:avLst/>
          </a:prstGeom>
          <a:noFill/>
        </p:spPr>
        <p:txBody>
          <a:bodyPr wrap="square" lIns="80000" rIns="80000" tIns="60000" bIns="40000">
            <a:sp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Cleanup Cost Mitigation: </a:t>
            </a:r>
            <a:r>
              <a:rPr sz="900" b="0">
                <a:solidFill>
                  <a:srgbClr val="222E3A"/>
                </a:solidFill>
                <a:latin typeface="Arial"/>
              </a:rPr>
              <a:t>Early intervention saves millions of dollars in catastrophic coastal environmental remediation.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Targeted Aerial Patrols: </a:t>
            </a:r>
            <a:r>
              <a:rPr sz="900" b="0">
                <a:solidFill>
                  <a:srgbClr val="222E3A"/>
                </a:solidFill>
                <a:latin typeface="Arial"/>
              </a:rPr>
              <a:t>Vectors Coast Guard Dornier aircraft directly to spill coordinates, slashing wasted flight hours.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Zero Public Expense: </a:t>
            </a:r>
            <a:r>
              <a:rPr sz="900" b="0">
                <a:solidFill>
                  <a:srgbClr val="222E3A"/>
                </a:solidFill>
                <a:latin typeface="Arial"/>
              </a:rPr>
              <a:t>Leverages 100% free open-access Sentinel and NOAA data feeds with open-source software stack.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200000" y="3790000"/>
            <a:ext cx="5380000" cy="2380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6200000" y="3790000"/>
            <a:ext cx="5380000" cy="520000"/>
          </a:xfrm>
          <a:prstGeom prst="roundRect">
            <a:avLst/>
          </a:prstGeom>
          <a:solidFill>
            <a:srgbClr val="F06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🏆 Strategic Competitive Superiority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260000" y="4350000"/>
            <a:ext cx="5260000" cy="1800000"/>
          </a:xfrm>
          <a:prstGeom prst="rect">
            <a:avLst/>
          </a:prstGeom>
          <a:noFill/>
        </p:spPr>
        <p:txBody>
          <a:bodyPr wrap="square" lIns="80000" rIns="80000" tIns="60000" bIns="40000">
            <a:sp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vs. EU CleanSeaNet: </a:t>
            </a:r>
            <a:r>
              <a:rPr sz="900" b="0">
                <a:solidFill>
                  <a:srgbClr val="222E3A"/>
                </a:solidFill>
                <a:latin typeface="Arial"/>
              </a:rPr>
              <a:t>CleanSeaNet offers SAR alerts only; lacks backward RK4 hydrodynamic hindcasting and automated vessel scoring.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vs. NOAA GNOME: </a:t>
            </a:r>
            <a:r>
              <a:rPr sz="900" b="0">
                <a:solidFill>
                  <a:srgbClr val="222E3A"/>
                </a:solidFill>
                <a:latin typeface="Arial"/>
              </a:rPr>
              <a:t>GNOME is a standalone trajectory tool requiring manual inputs; lacks automated satellite AI detection.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Unified Capability: </a:t>
            </a:r>
            <a:r>
              <a:rPr sz="900" b="0">
                <a:solidFill>
                  <a:srgbClr val="222E3A"/>
                </a:solidFill>
                <a:latin typeface="Arial"/>
              </a:rPr>
              <a:t>First all-in-one system combining SAR AI + Optical validation + RK4 drift + AIS attribution + dark ship detection.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00000" y="180000"/>
            <a:ext cx="7800000" cy="850000"/>
          </a:xfrm>
        </p:spPr>
        <p:txBody>
          <a:bodyPr anchor="ctr"/>
          <a:lstStyle/>
          <a:p>
            <a:pPr eaLnBrk="1" hangingPunct="1" algn="l"/>
            <a:r>
              <a:rPr sz="2600" b="1">
                <a:solidFill>
                  <a:srgbClr val="1B365D"/>
                </a:solidFill>
                <a:latin typeface="Arial"/>
              </a:rPr>
              <a:t>RESEARCH FOUNDATIONS, STANDARDS &amp;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OCEAN
SHIELD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50000" y="1250000"/>
            <a:ext cx="3600000" cy="4950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50000" y="1250000"/>
            <a:ext cx="3600000" cy="520000"/>
          </a:xfrm>
          <a:prstGeom prst="roundRect">
            <a:avLst/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🛰️ Remote Sensing &amp; Computer Vision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10000" y="1810000"/>
            <a:ext cx="3480000" cy="4370000"/>
          </a:xfrm>
          <a:prstGeom prst="rect">
            <a:avLst/>
          </a:prstGeom>
          <a:noFill/>
        </p:spPr>
        <p:txBody>
          <a:bodyPr wrap="square" lIns="80000" rIns="80000" tIns="60000" bIns="40000">
            <a:sp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Ronneberger et al. (2015): </a:t>
            </a:r>
            <a:r>
              <a:rPr sz="900" b="0">
                <a:solidFill>
                  <a:srgbClr val="222E3A"/>
                </a:solidFill>
                <a:latin typeface="Arial"/>
              </a:rPr>
              <a:t>U-Net: Convolutional Networks for Biomedical Image Segmentation (MICCAI) — Backbone for pixel-level slick masking.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Solberg et al. (2007): </a:t>
            </a:r>
            <a:r>
              <a:rPr sz="900" b="0">
                <a:solidFill>
                  <a:srgbClr val="222E3A"/>
                </a:solidFill>
                <a:latin typeface="Arial"/>
              </a:rPr>
              <a:t>Algorithms for Oil Spill Detection in SAR Imagery — Grounding for SAR backscatter damping characteristics.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Hu et al. (2009): </a:t>
            </a:r>
            <a:r>
              <a:rPr sz="900" b="0">
                <a:solidFill>
                  <a:srgbClr val="222E3A"/>
                </a:solidFill>
                <a:latin typeface="Arial"/>
              </a:rPr>
              <a:t>Floating Algae Index (FAI) — Basis for optical cross-validation eliminating biological false positives.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Shi et al. (2016): </a:t>
            </a:r>
            <a:r>
              <a:rPr sz="900" b="0">
                <a:solidFill>
                  <a:srgbClr val="222E3A"/>
                </a:solidFill>
                <a:latin typeface="Arial"/>
              </a:rPr>
              <a:t>Real-Time Single Image Super-Resolution (ESPCN, CVPR) — Sub-pixel convolution for slick boundary sharpening.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310000" y="1250000"/>
            <a:ext cx="3600000" cy="4950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4310000" y="1250000"/>
            <a:ext cx="3600000" cy="52000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🌊 Physical Oceanography &amp; Weathering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370000" y="1810000"/>
            <a:ext cx="3480000" cy="4370000"/>
          </a:xfrm>
          <a:prstGeom prst="rect">
            <a:avLst/>
          </a:prstGeom>
          <a:noFill/>
        </p:spPr>
        <p:txBody>
          <a:bodyPr wrap="square" lIns="80000" rIns="80000" tIns="60000" bIns="40000">
            <a:sp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Mackay et al. (1980): </a:t>
            </a:r>
            <a:r>
              <a:rPr sz="900" b="0">
                <a:solidFill>
                  <a:srgbClr val="222E3A"/>
                </a:solidFill>
                <a:latin typeface="Arial"/>
              </a:rPr>
              <a:t>ADIOS Oil Spill Weathering Model — Mathematical equations for evaporation, emulsification, and viscosity decay.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Fay (1969): </a:t>
            </a:r>
            <a:r>
              <a:rPr sz="900" b="0">
                <a:solidFill>
                  <a:srgbClr val="222E3A"/>
                </a:solidFill>
                <a:latin typeface="Arial"/>
              </a:rPr>
              <a:t>The Spread of Oil Slicks on a Calm Sea — Governing gravity-inertial, gravity-viscous, and surface tension spreading regimes.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NOAA HYCOM GOFS 3.1: </a:t>
            </a:r>
            <a:r>
              <a:rPr sz="900" b="0">
                <a:solidFill>
                  <a:srgbClr val="222E3A"/>
                </a:solidFill>
                <a:latin typeface="Arial"/>
              </a:rPr>
              <a:t>Global Ocean Forecast System — High-resolution 0.08° 4D data assimilative ocean hydrodynamic models.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Ekman (1905): </a:t>
            </a:r>
            <a:r>
              <a:rPr sz="900" b="0">
                <a:solidFill>
                  <a:srgbClr val="222E3A"/>
                </a:solidFill>
                <a:latin typeface="Arial"/>
              </a:rPr>
              <a:t>Wind-driven Ocean Surface Currents — 3.2% wind drift factor and Coriolis deflection angle formulation.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070000" y="1250000"/>
            <a:ext cx="3600000" cy="49500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0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8070000" y="1250000"/>
            <a:ext cx="3600000" cy="520000"/>
          </a:xfrm>
          <a:prstGeom prst="round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⚖️ Statutory Law &amp; Data Standards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130000" y="1810000"/>
            <a:ext cx="3480000" cy="4370000"/>
          </a:xfrm>
          <a:prstGeom prst="rect">
            <a:avLst/>
          </a:prstGeom>
          <a:noFill/>
        </p:spPr>
        <p:txBody>
          <a:bodyPr wrap="square" lIns="80000" rIns="80000" tIns="60000" bIns="40000">
            <a:spAutoFit/>
          </a:bodyPr>
          <a:lstStyle/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MARPOL 73/78 Annex I: </a:t>
            </a:r>
            <a:r>
              <a:rPr sz="900" b="0">
                <a:solidFill>
                  <a:srgbClr val="222E3A"/>
                </a:solidFill>
                <a:latin typeface="Arial"/>
              </a:rPr>
              <a:t>International Convention for the Prevention of Pollution from Ships — Regulation of operational oil discharge.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Indian Merchant Shipping Act: </a:t>
            </a:r>
            <a:r>
              <a:rPr sz="900" b="0">
                <a:solidFill>
                  <a:srgbClr val="222E3A"/>
                </a:solidFill>
                <a:latin typeface="Arial"/>
              </a:rPr>
              <a:t>1958, Part XI-A (Pollution of the Sea by Oil, Section 356C) — Statutory enforcement basis in India.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Indian Evidence Act, 1872: </a:t>
            </a:r>
            <a:r>
              <a:rPr sz="900" b="0">
                <a:solidFill>
                  <a:srgbClr val="222E3A"/>
                </a:solidFill>
                <a:latin typeface="Arial"/>
              </a:rPr>
              <a:t>Section 65B — Conditions for admissibility of electronic records &amp; cryptographic hash verification.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1B365D"/>
                </a:solidFill>
                <a:latin typeface="Arial"/>
              </a:rPr>
              <a:t>Open Data Repositories: </a:t>
            </a:r>
            <a:r>
              <a:rPr sz="900" b="0">
                <a:solidFill>
                  <a:srgbClr val="222E3A"/>
                </a:solidFill>
                <a:latin typeface="Arial"/>
              </a:rPr>
              <a:t>NOAA MarineCadastre AIS, NASA ASF Copernicus Sentinel-1/2, Open-Meteo marine models.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07A99"/>
                </a:solidFill>
                <a:latin typeface="Arial"/>
              </a:rPr>
              <a:t>Production Repository: </a:t>
            </a:r>
            <a:r>
              <a:rPr sz="900" b="0">
                <a:solidFill>
                  <a:srgbClr val="222E3A"/>
                </a:solidFill>
                <a:latin typeface="Arial"/>
              </a:rPr>
              <a:t>github.com/prudhviraj0310/SIH26143-OCEAN-SHIELD — 16 passing unit tests, ~5,700 lines of verified code.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